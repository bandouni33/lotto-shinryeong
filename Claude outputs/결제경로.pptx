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8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1031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로또신령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65176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결제경로 (Payment Flow)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70332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AA3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토스페이먼츠 계약 심사 제출용 자료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31520" y="4572000"/>
            <a:ext cx="3566160" cy="502920"/>
          </a:xfrm>
          <a:prstGeom prst="roundRect">
            <a:avLst>
              <a:gd name="adj" fmla="val 14545"/>
            </a:avLst>
          </a:prstGeom>
          <a:solidFill>
            <a:srgbClr val="1B234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457200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5E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com.bandouni.lottoshinryeong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18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결제 프로세스 6단계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회원가입(간편인증)부터 적립금 충전·서비스 이용까지의 흐름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310128" cy="1874520"/>
          </a:xfrm>
          <a:prstGeom prst="roundRect">
            <a:avLst>
              <a:gd name="adj" fmla="val 4390"/>
            </a:avLst>
          </a:prstGeom>
          <a:solidFill>
            <a:srgbClr val="F7F8FC"/>
          </a:solidFill>
          <a:ln/>
          <a:effectLst>
            <a:outerShdw sx="100000" sy="100000" kx="0" ky="0" algn="bl" rotWithShape="0" blurRad="76200" dist="25400" dir="5400000">
              <a:srgbClr val="1B234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828800"/>
            <a:ext cx="502920" cy="502920"/>
          </a:xfrm>
          <a:prstGeom prst="ellipse">
            <a:avLst/>
          </a:prstGeom>
          <a:solidFill>
            <a:srgbClr val="12182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468880"/>
            <a:ext cx="28529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간편인증 로그인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862072"/>
            <a:ext cx="28529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B52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카카오 등 OAuth로 회원 확인 (실명·카드정보 등 미보관)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105656" y="1600200"/>
            <a:ext cx="3310128" cy="1874520"/>
          </a:xfrm>
          <a:prstGeom prst="roundRect">
            <a:avLst>
              <a:gd name="adj" fmla="val 4390"/>
            </a:avLst>
          </a:prstGeom>
          <a:solidFill>
            <a:srgbClr val="F7F8FC"/>
          </a:solidFill>
          <a:ln/>
          <a:effectLst>
            <a:outerShdw sx="100000" sy="100000" kx="0" ky="0" algn="bl" rotWithShape="0" blurRad="76200" dist="25400" dir="5400000">
              <a:srgbClr val="1B234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34256" y="1828800"/>
            <a:ext cx="502920" cy="502920"/>
          </a:xfrm>
          <a:prstGeom prst="ellipse">
            <a:avLst/>
          </a:prstGeom>
          <a:solidFill>
            <a:srgbClr val="12182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334256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4334256" y="2468880"/>
            <a:ext cx="28529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충전 금액 선택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334256" y="2862072"/>
            <a:ext cx="28529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B52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10,000 / 30,000 / 50,000원 중 선택 (10원당 1P)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662672" y="1600200"/>
            <a:ext cx="3310128" cy="1874520"/>
          </a:xfrm>
          <a:prstGeom prst="roundRect">
            <a:avLst>
              <a:gd name="adj" fmla="val 4390"/>
            </a:avLst>
          </a:prstGeom>
          <a:solidFill>
            <a:srgbClr val="F7F8FC"/>
          </a:solidFill>
          <a:ln/>
          <a:effectLst>
            <a:outerShdw sx="100000" sy="100000" kx="0" ky="0" algn="bl" rotWithShape="0" blurRad="76200" dist="25400" dir="5400000">
              <a:srgbClr val="1B234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891272" y="1828800"/>
            <a:ext cx="502920" cy="502920"/>
          </a:xfrm>
          <a:prstGeom prst="ellipse">
            <a:avLst/>
          </a:prstGeom>
          <a:solidFill>
            <a:srgbClr val="12182B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891272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7891272" y="2468880"/>
            <a:ext cx="28529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결제창 호출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7891272" y="2862072"/>
            <a:ext cx="28529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B52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"결제창 열기" 클릭 → 토스페이먼츠 결제창 연동 호출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3703320"/>
            <a:ext cx="3310128" cy="1874520"/>
          </a:xfrm>
          <a:prstGeom prst="roundRect">
            <a:avLst>
              <a:gd name="adj" fmla="val 4390"/>
            </a:avLst>
          </a:prstGeom>
          <a:solidFill>
            <a:srgbClr val="F7F8FC"/>
          </a:solidFill>
          <a:ln/>
          <a:effectLst>
            <a:outerShdw sx="100000" sy="100000" kx="0" ky="0" algn="bl" rotWithShape="0" blurRad="76200" dist="25400" dir="5400000">
              <a:srgbClr val="1B234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77240" y="3931920"/>
            <a:ext cx="502920" cy="502920"/>
          </a:xfrm>
          <a:prstGeom prst="ellipse">
            <a:avLst/>
          </a:prstGeom>
          <a:solidFill>
            <a:srgbClr val="12182B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77240" y="3931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777240" y="4572000"/>
            <a:ext cx="28529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결제 진행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777240" y="4965192"/>
            <a:ext cx="28529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B52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사용자가 토스 결제창에서 결제수단 선택 후 결제 승인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105656" y="3703320"/>
            <a:ext cx="3310128" cy="1874520"/>
          </a:xfrm>
          <a:prstGeom prst="roundRect">
            <a:avLst>
              <a:gd name="adj" fmla="val 4390"/>
            </a:avLst>
          </a:prstGeom>
          <a:solidFill>
            <a:srgbClr val="F7F8FC"/>
          </a:solidFill>
          <a:ln/>
          <a:effectLst>
            <a:outerShdw sx="100000" sy="100000" kx="0" ky="0" algn="bl" rotWithShape="0" blurRad="76200" dist="25400" dir="5400000">
              <a:srgbClr val="1B234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334256" y="3931920"/>
            <a:ext cx="502920" cy="502920"/>
          </a:xfrm>
          <a:prstGeom prst="ellipse">
            <a:avLst/>
          </a:prstGeom>
          <a:solidFill>
            <a:srgbClr val="12182B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334256" y="3931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4334256" y="4572000"/>
            <a:ext cx="28529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결제 승인 처리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4334256" y="4965192"/>
            <a:ext cx="28529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B52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결제 성공 콜백 수신 → 서버에서 적립금 즉시 충전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7662672" y="3703320"/>
            <a:ext cx="3310128" cy="1874520"/>
          </a:xfrm>
          <a:prstGeom prst="roundRect">
            <a:avLst>
              <a:gd name="adj" fmla="val 4390"/>
            </a:avLst>
          </a:prstGeom>
          <a:solidFill>
            <a:srgbClr val="F7F8FC"/>
          </a:solidFill>
          <a:ln/>
          <a:effectLst>
            <a:outerShdw sx="100000" sy="100000" kx="0" ky="0" algn="bl" rotWithShape="0" blurRad="76200" dist="25400" dir="5400000">
              <a:srgbClr val="1B234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891272" y="3931920"/>
            <a:ext cx="502920" cy="502920"/>
          </a:xfrm>
          <a:prstGeom prst="ellipse">
            <a:avLst/>
          </a:prstGeom>
          <a:solidFill>
            <a:srgbClr val="12182B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7891272" y="3931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32" name="Text 30"/>
          <p:cNvSpPr txBox="1"/>
          <p:nvPr/>
        </p:nvSpPr>
        <p:spPr>
          <a:xfrm>
            <a:off x="7891272" y="4572000"/>
            <a:ext cx="28529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서비스 이용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7891272" y="4965192"/>
            <a:ext cx="28529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B52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충전된 적립금으로 번개조합·고급필터 등 기능 이용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18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결제가 이루어지는 기능 구간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실제 원화 결제(PG)는 “적립금 충전” 한 곳에서만 발생하며, 아래 5개 기능은 이미 충전된 적립금을 소진하는 지점입니다. 잔액 부족 시 자동으로 충전 화면으로 연결됩니다.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0698480" cy="868680"/>
          </a:xfrm>
          <a:prstGeom prst="roundRect">
            <a:avLst>
              <a:gd name="adj" fmla="val 9474"/>
            </a:avLst>
          </a:prstGeom>
          <a:solidFill>
            <a:srgbClr val="12182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169164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₩ 실제 PG 결제 지점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3840480" y="1691640"/>
            <a:ext cx="7223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적립금 충전 — 내정보 &gt; 충전 (10,000 / 30,000 / 50,000원, 토스페이먼츠 결제창)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880360"/>
            <a:ext cx="2029968" cy="2880360"/>
          </a:xfrm>
          <a:prstGeom prst="roundRect">
            <a:avLst>
              <a:gd name="adj" fmla="val 4054"/>
            </a:avLst>
          </a:prstGeom>
          <a:solidFill>
            <a:srgbClr val="F7F8FC"/>
          </a:solidFill>
          <a:ln/>
          <a:effectLst>
            <a:outerShdw sx="100000" sy="100000" kx="0" ky="0" algn="bl" rotWithShape="0" blurRad="76200" dist="25400" dir="5400000">
              <a:srgbClr val="1B234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362456" y="3154680"/>
            <a:ext cx="402336" cy="402336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362456" y="31546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3749040"/>
            <a:ext cx="17556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2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번개조합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4389120"/>
            <a:ext cx="175564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B52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1게임당 10P 소진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752344" y="2880360"/>
            <a:ext cx="2029968" cy="2880360"/>
          </a:xfrm>
          <a:prstGeom prst="roundRect">
            <a:avLst>
              <a:gd name="adj" fmla="val 4054"/>
            </a:avLst>
          </a:prstGeom>
          <a:solidFill>
            <a:srgbClr val="F7F8FC"/>
          </a:solidFill>
          <a:ln/>
          <a:effectLst>
            <a:outerShdw sx="100000" sy="100000" kx="0" ky="0" algn="bl" rotWithShape="0" blurRad="76200" dist="25400" dir="5400000">
              <a:srgbClr val="1B234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566160" y="3154680"/>
            <a:ext cx="402336" cy="402336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566160" y="31546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2889504" y="3749040"/>
            <a:ext cx="17556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2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안티/액땜조합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2889504" y="4389120"/>
            <a:ext cx="175564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B52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1개당 10P 소진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956048" y="2880360"/>
            <a:ext cx="2029968" cy="2880360"/>
          </a:xfrm>
          <a:prstGeom prst="roundRect">
            <a:avLst>
              <a:gd name="adj" fmla="val 4054"/>
            </a:avLst>
          </a:prstGeom>
          <a:solidFill>
            <a:srgbClr val="F7F8FC"/>
          </a:solidFill>
          <a:ln/>
          <a:effectLst>
            <a:outerShdw sx="100000" sy="100000" kx="0" ky="0" algn="bl" rotWithShape="0" blurRad="76200" dist="25400" dir="5400000">
              <a:srgbClr val="1B234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769864" y="3154680"/>
            <a:ext cx="402336" cy="402336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769864" y="31546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5093208" y="3749040"/>
            <a:ext cx="17556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2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자동구매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5093208" y="4389120"/>
            <a:ext cx="175564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B52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1개당 10P 소진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7159752" y="2880360"/>
            <a:ext cx="2029968" cy="2880360"/>
          </a:xfrm>
          <a:prstGeom prst="roundRect">
            <a:avLst>
              <a:gd name="adj" fmla="val 4054"/>
            </a:avLst>
          </a:prstGeom>
          <a:solidFill>
            <a:srgbClr val="F7F8FC"/>
          </a:solidFill>
          <a:ln/>
          <a:effectLst>
            <a:outerShdw sx="100000" sy="100000" kx="0" ky="0" algn="bl" rotWithShape="0" blurRad="76200" dist="25400" dir="5400000">
              <a:srgbClr val="1B234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973568" y="3154680"/>
            <a:ext cx="402336" cy="402336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7973568" y="31546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7296912" y="3749040"/>
            <a:ext cx="17556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2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타로점 추가뽑기</a:t>
            </a:r>
            <a:endParaRPr lang="en-US" sz="1350" dirty="0"/>
          </a:p>
        </p:txBody>
      </p:sp>
      <p:sp>
        <p:nvSpPr>
          <p:cNvPr id="26" name="Text 24"/>
          <p:cNvSpPr txBox="1"/>
          <p:nvPr/>
        </p:nvSpPr>
        <p:spPr>
          <a:xfrm>
            <a:off x="7296912" y="4389120"/>
            <a:ext cx="175564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B52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1일 1회 무료 이후, 1회당 50P 소진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9363456" y="2880360"/>
            <a:ext cx="2029968" cy="2880360"/>
          </a:xfrm>
          <a:prstGeom prst="roundRect">
            <a:avLst>
              <a:gd name="adj" fmla="val 4054"/>
            </a:avLst>
          </a:prstGeom>
          <a:solidFill>
            <a:srgbClr val="F7F8FC"/>
          </a:solidFill>
          <a:ln/>
          <a:effectLst>
            <a:outerShdw sx="100000" sy="100000" kx="0" ky="0" algn="bl" rotWithShape="0" blurRad="76200" dist="25400" dir="5400000">
              <a:srgbClr val="1B234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10177272" y="3154680"/>
            <a:ext cx="402336" cy="402336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10177272" y="31546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9500616" y="3749040"/>
            <a:ext cx="17556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21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고급필터 정기구독</a:t>
            </a:r>
            <a:endParaRPr lang="en-US" sz="1350" dirty="0"/>
          </a:p>
        </p:txBody>
      </p:sp>
      <p:sp>
        <p:nvSpPr>
          <p:cNvPr id="31" name="Text 29"/>
          <p:cNvSpPr txBox="1"/>
          <p:nvPr/>
        </p:nvSpPr>
        <p:spPr>
          <a:xfrm>
            <a:off x="9500616" y="4389120"/>
            <a:ext cx="175564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B52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월 1,200P (3개월권 3,000P) 소진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218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4864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현재 연동 상태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554480"/>
            <a:ext cx="10698480" cy="914400"/>
          </a:xfrm>
          <a:prstGeom prst="roundRect">
            <a:avLst>
              <a:gd name="adj" fmla="val 8000"/>
            </a:avLst>
          </a:prstGeom>
          <a:solidFill>
            <a:srgbClr val="1B2340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05840" y="155448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PG사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3474720" y="155448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토스페이먼츠 (상점아이디: slottogbue)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731520" y="2697480"/>
            <a:ext cx="10698480" cy="914400"/>
          </a:xfrm>
          <a:prstGeom prst="roundRect">
            <a:avLst>
              <a:gd name="adj" fmla="val 8000"/>
            </a:avLst>
          </a:prstGeom>
          <a:solidFill>
            <a:srgbClr val="1B234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05840" y="269748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연동 방식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3474720" y="269748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직접연동 (계좌이체 / 복합결제 / 신용카드)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731520" y="3840480"/>
            <a:ext cx="10698480" cy="914400"/>
          </a:xfrm>
          <a:prstGeom prst="roundRect">
            <a:avLst>
              <a:gd name="adj" fmla="val 8000"/>
            </a:avLst>
          </a:prstGeom>
          <a:solidFill>
            <a:srgbClr val="1B234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05840" y="384048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현재 상태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474720" y="384048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계약 심사 진행 중 — 결제창 미연동 (계약 체결 즉시 활성화 예정)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731520" y="4983480"/>
            <a:ext cx="10698480" cy="914400"/>
          </a:xfrm>
          <a:prstGeom prst="roundRect">
            <a:avLst>
              <a:gd name="adj" fmla="val 8000"/>
            </a:avLst>
          </a:prstGeom>
          <a:solidFill>
            <a:srgbClr val="1B234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005840" y="498348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심사 중 임시 조치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3474720" y="498348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클로즈 테스터 한정, 운영자가 수기로 적립금 지급 (실결제 없음)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731520" y="63093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3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문의: bandouni@naver.com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2026-09-18T13:52:52Z</dcterms:created>
  <dcterms:modified xsi:type="dcterms:W3CDTF">2026-09-18T13:52:52Z</dcterms:modified>
</cp:coreProperties>
</file>